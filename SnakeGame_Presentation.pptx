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4879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0" y="27432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94560" y="27432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08960" y="27432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23360" y="27432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37760" y="27432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52160" y="27432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0" y="27432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80960" y="27432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0" y="27432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09728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80160" y="109728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94560" y="109728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08960" y="109728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23360" y="109728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37760" y="109728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52160" y="109728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66560" y="109728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0" y="109728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95360" y="109728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192024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80160" y="192024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94560" y="192024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08960" y="192024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23360" y="192024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37760" y="192024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52160" y="192024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66560" y="192024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80960" y="192024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95360" y="192024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274320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280160" y="274320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194560" y="274320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108960" y="274320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023360" y="274320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37760" y="274320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52160" y="274320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766560" y="274320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680960" y="274320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595360" y="274320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5760" y="356616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280160" y="356616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194560" y="356616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108960" y="356616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023360" y="356616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937760" y="356616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852160" y="356616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766560" y="356616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680960" y="356616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595360" y="356616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65760" y="438912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280160" y="438912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194560" y="438912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108960" y="438912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023360" y="438912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937760" y="438912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852160" y="438912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766560" y="438912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680960" y="438912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595360" y="438912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82880" y="54864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00C896"/>
          </a:solidFill>
          <a:ln w="12700">
            <a:solidFill>
              <a:srgbClr val="00C896">
                <a:alpha val="5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57200" y="54864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1E4D3A"/>
          </a:solidFill>
          <a:ln w="12700">
            <a:solidFill>
              <a:srgbClr val="00C896">
                <a:alpha val="5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31520" y="54864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1E4D3A"/>
          </a:solidFill>
          <a:ln w="12700">
            <a:solidFill>
              <a:srgbClr val="00C896">
                <a:alpha val="5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1520" y="91440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1E4D3A"/>
          </a:solidFill>
          <a:ln w="12700">
            <a:solidFill>
              <a:srgbClr val="00C896">
                <a:alpha val="5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31520" y="128016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1E4D3A"/>
          </a:solidFill>
          <a:ln w="12700">
            <a:solidFill>
              <a:srgbClr val="00C896">
                <a:alpha val="5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57200" y="128016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1E4D3A"/>
          </a:solidFill>
          <a:ln w="12700">
            <a:solidFill>
              <a:srgbClr val="00C896">
                <a:alpha val="5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82880" y="128016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1E4D3A"/>
          </a:solidFill>
          <a:ln w="12700">
            <a:solidFill>
              <a:srgbClr val="00C896">
                <a:alpha val="50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046720" y="2011680"/>
            <a:ext cx="365760" cy="36576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028432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</a:rPr>
              <a:t>$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2560320" y="365760"/>
            <a:ext cx="4023360" cy="347472"/>
          </a:xfrm>
          <a:prstGeom prst="roundRect">
            <a:avLst>
              <a:gd name="adj" fmla="val 31579"/>
            </a:avLst>
          </a:prstGeom>
          <a:solidFill>
            <a:srgbClr val="00C896">
              <a:alpha val="18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560320" y="36576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896"/>
                </a:solidFill>
              </a:rPr>
              <a:t>OOP · Data Structures · Programming Fundamentals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1097280" y="914400"/>
            <a:ext cx="6949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kern="0" spc="800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SNAKE GAME</a:t>
            </a:r>
            <a:endParaRPr lang="en-US" sz="5800" dirty="0"/>
          </a:p>
        </p:txBody>
      </p:sp>
      <p:sp>
        <p:nvSpPr>
          <p:cNvPr id="74" name="Text 72"/>
          <p:cNvSpPr/>
          <p:nvPr/>
        </p:nvSpPr>
        <p:spPr>
          <a:xfrm>
            <a:off x="1097280" y="192024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0C896"/>
                </a:solidFill>
              </a:rPr>
              <a:t>Design &amp; Analysis using C++</a:t>
            </a:r>
            <a:endParaRPr lang="en-US" sz="1800" dirty="0"/>
          </a:p>
        </p:txBody>
      </p:sp>
      <p:sp>
        <p:nvSpPr>
          <p:cNvPr id="75" name="Shape 73"/>
          <p:cNvSpPr/>
          <p:nvPr/>
        </p:nvSpPr>
        <p:spPr>
          <a:xfrm>
            <a:off x="2926080" y="2468880"/>
            <a:ext cx="3291840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05840" y="2697480"/>
            <a:ext cx="237744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1005840" y="2697480"/>
            <a:ext cx="2377440" cy="502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115568" y="2834640"/>
            <a:ext cx="21579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Ibrar Ahmed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1115568" y="3182112"/>
            <a:ext cx="21579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1115568" y="347472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Dev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3611880" y="2697480"/>
            <a:ext cx="237744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3611880" y="2697480"/>
            <a:ext cx="2377440" cy="502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721608" y="2834640"/>
            <a:ext cx="21579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Sanan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3721608" y="3182112"/>
            <a:ext cx="21579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3721608" y="347472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Writer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6217920" y="2697480"/>
            <a:ext cx="237744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7" name="Shape 85"/>
          <p:cNvSpPr/>
          <p:nvPr/>
        </p:nvSpPr>
        <p:spPr>
          <a:xfrm>
            <a:off x="6217920" y="2697480"/>
            <a:ext cx="2377440" cy="502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327648" y="2834640"/>
            <a:ext cx="21579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Hanzala Baqir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6327648" y="3182112"/>
            <a:ext cx="21579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Analysis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6327648" y="347472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QA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0" y="4800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</a:rPr>
              <a:t>Academic Project  ·  Version 1.0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00C896"/>
                </a:solidFill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2377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64008" cy="23774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8A6FF"/>
                </a:solidFill>
              </a:rPr>
              <a:t>What Is This Project?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terminal-based Nokia-style Snake game
built entirely in C++.
</a:t>
            </a:r>
            <a:r>
              <a:rPr lang="en-US" sz="10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Demonstrated: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OOP — Classes, Encapsulation, Composition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Data Structures — Arrays, 2D Grid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Algorithms — Collision Detection, Grid Traversal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Cross-platform — Windows &amp; Linux support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868680"/>
            <a:ext cx="4114800" cy="2377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868680"/>
            <a:ext cx="64008" cy="23774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A500"/>
                </a:solidFill>
              </a:rPr>
              <a:t>Gameplay Features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1353312"/>
            <a:ext cx="128016" cy="128016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131673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keyboard input (W A S D)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1673352"/>
            <a:ext cx="128016" cy="128016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163677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spawning with $ symbol (+10 pts each)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1993392"/>
            <a:ext cx="128016" cy="128016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195681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Snake grows after eating food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2313432"/>
            <a:ext cx="128016" cy="128016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227685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&amp; self-collision detection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2633472"/>
            <a:ext cx="128016" cy="128016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259689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score tracking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2953512"/>
            <a:ext cx="128016" cy="128016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291693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Play-again loop after game over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429000"/>
            <a:ext cx="850392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49300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C896"/>
                </a:solidFill>
              </a:rPr>
              <a:t>CONTROLS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920240" y="3502152"/>
            <a:ext cx="420624" cy="274320"/>
          </a:xfrm>
          <a:prstGeom prst="roundRect">
            <a:avLst>
              <a:gd name="adj" fmla="val 16667"/>
            </a:avLst>
          </a:prstGeom>
          <a:solidFill>
            <a:srgbClr val="30363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20240" y="3502152"/>
            <a:ext cx="420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8A6FF"/>
                </a:solidFill>
              </a:rPr>
              <a:t>ENTER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920240" y="37947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</a:rPr>
              <a:t>Start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108960" y="3502152"/>
            <a:ext cx="420624" cy="274320"/>
          </a:xfrm>
          <a:prstGeom prst="roundRect">
            <a:avLst>
              <a:gd name="adj" fmla="val 16667"/>
            </a:avLst>
          </a:prstGeom>
          <a:solidFill>
            <a:srgbClr val="30363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08960" y="3502152"/>
            <a:ext cx="420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8A6FF"/>
                </a:solidFill>
              </a:rPr>
              <a:t>W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108960" y="37947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</a:rPr>
              <a:t>Up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297680" y="3502152"/>
            <a:ext cx="420624" cy="274320"/>
          </a:xfrm>
          <a:prstGeom prst="roundRect">
            <a:avLst>
              <a:gd name="adj" fmla="val 16667"/>
            </a:avLst>
          </a:prstGeom>
          <a:solidFill>
            <a:srgbClr val="30363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97680" y="3502152"/>
            <a:ext cx="420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8A6FF"/>
                </a:solidFill>
              </a:rPr>
              <a:t>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297680" y="37947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</a:rPr>
              <a:t>Down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86400" y="3502152"/>
            <a:ext cx="420624" cy="274320"/>
          </a:xfrm>
          <a:prstGeom prst="roundRect">
            <a:avLst>
              <a:gd name="adj" fmla="val 16667"/>
            </a:avLst>
          </a:prstGeom>
          <a:solidFill>
            <a:srgbClr val="30363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0" y="3502152"/>
            <a:ext cx="420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8A6FF"/>
                </a:solidFill>
              </a:rPr>
              <a:t>A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486400" y="37947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</a:rPr>
              <a:t>Left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675120" y="3502152"/>
            <a:ext cx="420624" cy="274320"/>
          </a:xfrm>
          <a:prstGeom prst="roundRect">
            <a:avLst>
              <a:gd name="adj" fmla="val 16667"/>
            </a:avLst>
          </a:prstGeom>
          <a:solidFill>
            <a:srgbClr val="30363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75120" y="3502152"/>
            <a:ext cx="420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8A6FF"/>
                </a:solidFill>
              </a:rPr>
              <a:t>D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675120" y="37947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</a:rPr>
              <a:t>Right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863840" y="3502152"/>
            <a:ext cx="420624" cy="274320"/>
          </a:xfrm>
          <a:prstGeom prst="roundRect">
            <a:avLst>
              <a:gd name="adj" fmla="val 16667"/>
            </a:avLst>
          </a:prstGeom>
          <a:solidFill>
            <a:srgbClr val="30363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63840" y="3502152"/>
            <a:ext cx="420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8A6FF"/>
                </a:solidFill>
              </a:rPr>
              <a:t>Q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863840" y="37947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</a:rPr>
              <a:t>Quit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0" y="4800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</a:rPr>
              <a:t>Snake Game  ·  OOP + Data Structures in C++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00C896"/>
                </a:solidFill>
              </a:rPr>
              <a:t>OOP CLASS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651760" cy="132588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2651760" cy="310896"/>
          </a:xfrm>
          <a:prstGeom prst="rect">
            <a:avLst/>
          </a:prstGeom>
          <a:solidFill>
            <a:srgbClr val="58A6FF">
              <a:alpha val="80000"/>
            </a:srgbClr>
          </a:solidFill>
          <a:ln w="12700">
            <a:solidFill>
              <a:srgbClr val="58A6FF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04672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117"/>
                </a:solidFill>
              </a:rPr>
              <a:t>class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15214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x, y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47472" y="1481328"/>
            <a:ext cx="2505456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51790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operator==()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65760" y="183794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one (x, y) cell on the grid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218688" y="804672"/>
            <a:ext cx="2651760" cy="1325880"/>
          </a:xfrm>
          <a:prstGeom prst="rect">
            <a:avLst/>
          </a:prstGeom>
          <a:solidFill>
            <a:srgbClr val="161B22"/>
          </a:solidFill>
          <a:ln w="19050">
            <a:solidFill>
              <a:srgbClr val="00C896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18688" y="804672"/>
            <a:ext cx="2651760" cy="310896"/>
          </a:xfrm>
          <a:prstGeom prst="rect">
            <a:avLst/>
          </a:prstGeom>
          <a:solidFill>
            <a:srgbClr val="00C896">
              <a:alpha val="80000"/>
            </a:srgbClr>
          </a:solidFill>
          <a:ln w="12700">
            <a:solidFill>
              <a:srgbClr val="00C896">
                <a:alpha val="8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804672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117"/>
                </a:solidFill>
              </a:rPr>
              <a:t>class Food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10128" y="115214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Point position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91840" y="1481328"/>
            <a:ext cx="2505456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0128" y="151790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respawn()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getPosition()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310128" y="183794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food placement avoiding snake body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163056" y="804672"/>
            <a:ext cx="2651760" cy="1325880"/>
          </a:xfrm>
          <a:prstGeom prst="rect">
            <a:avLst/>
          </a:prstGeom>
          <a:solidFill>
            <a:srgbClr val="161B22"/>
          </a:solidFill>
          <a:ln w="19050">
            <a:solidFill>
              <a:srgbClr val="F0A50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63056" y="804672"/>
            <a:ext cx="2651760" cy="310896"/>
          </a:xfrm>
          <a:prstGeom prst="rect">
            <a:avLst/>
          </a:prstGeom>
          <a:solidFill>
            <a:srgbClr val="F0A500">
              <a:alpha val="80000"/>
            </a:srgbClr>
          </a:solidFill>
          <a:ln w="12700">
            <a:solidFill>
              <a:srgbClr val="F0A500">
                <a:alpha val="8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54496" y="804672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117"/>
                </a:solidFill>
              </a:rPr>
              <a:t>class ScoreManager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54496" y="115214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score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highScore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236208" y="1481328"/>
            <a:ext cx="2505456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54496" y="151790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addPoints()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reset()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getScore()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254496" y="183794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current &amp; all-time high score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74320" y="2267712"/>
            <a:ext cx="2651760" cy="1325880"/>
          </a:xfrm>
          <a:prstGeom prst="rect">
            <a:avLst/>
          </a:prstGeom>
          <a:solidFill>
            <a:srgbClr val="161B22"/>
          </a:solidFill>
          <a:ln w="19050">
            <a:solidFill>
              <a:srgbClr val="E070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2267712"/>
            <a:ext cx="2651760" cy="310896"/>
          </a:xfrm>
          <a:prstGeom prst="rect">
            <a:avLst/>
          </a:prstGeom>
          <a:solidFill>
            <a:srgbClr val="E07050">
              <a:alpha val="80000"/>
            </a:srgbClr>
          </a:solidFill>
          <a:ln w="12700">
            <a:solidFill>
              <a:srgbClr val="E07050">
                <a:alpha val="8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267712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117"/>
                </a:solidFill>
              </a:rPr>
              <a:t>class Snake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261518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Point body[]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length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Direction dir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47472" y="2944368"/>
            <a:ext cx="2505456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298094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move()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hitWall()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hitSelf()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65760" y="330098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 structure — fixed array with shift movement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218688" y="2267712"/>
            <a:ext cx="2651760" cy="1325880"/>
          </a:xfrm>
          <a:prstGeom prst="rect">
            <a:avLst/>
          </a:prstGeom>
          <a:solidFill>
            <a:srgbClr val="161B22"/>
          </a:solidFill>
          <a:ln w="19050">
            <a:solidFill>
              <a:srgbClr val="AA80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18688" y="2267712"/>
            <a:ext cx="2651760" cy="310896"/>
          </a:xfrm>
          <a:prstGeom prst="rect">
            <a:avLst/>
          </a:prstGeom>
          <a:solidFill>
            <a:srgbClr val="AA80FF">
              <a:alpha val="80000"/>
            </a:srgbClr>
          </a:solidFill>
          <a:ln w="12700">
            <a:solidFill>
              <a:srgbClr val="AA80FF">
                <a:alpha val="8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10128" y="2267712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117"/>
                </a:solidFill>
              </a:rPr>
              <a:t>class SnakeGame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10128" y="261518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Snake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Food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ScoreManager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91840" y="2944368"/>
            <a:ext cx="2505456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10128" y="298094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setup()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draw()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input()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310128" y="330098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controller — composition of all classes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74320" y="4480560"/>
            <a:ext cx="8503920" cy="402336"/>
          </a:xfrm>
          <a:prstGeom prst="rect">
            <a:avLst/>
          </a:prstGeom>
          <a:solidFill>
            <a:srgbClr val="1A233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480560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Composition Pattern:  SnakeGame  ◄── has-a ──  Snake  +  Food  +  ScoreManager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00C896"/>
                </a:solidFill>
              </a:rPr>
              <a:t>DATA STRUCTURES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5120640" cy="2194560"/>
          </a:xfrm>
          <a:prstGeom prst="rect">
            <a:avLst/>
          </a:prstGeom>
          <a:solidFill>
            <a:srgbClr val="161B22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503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96"/>
                </a:solidFill>
              </a:rPr>
              <a:t>① Fixed-Size Point Array (Snake Body)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 body[MAX_LEN]   where  MAX_LEN = WIDTH × HEIGHT = 800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475488" cy="365760"/>
          </a:xfrm>
          <a:prstGeom prst="rect">
            <a:avLst/>
          </a:prstGeom>
          <a:solidFill>
            <a:srgbClr val="00C896"/>
          </a:solidFill>
          <a:ln w="19050">
            <a:solidFill>
              <a:srgbClr val="00C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08760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892808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[0]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097280" y="1508760"/>
            <a:ext cx="475488" cy="365760"/>
          </a:xfrm>
          <a:prstGeom prst="rect">
            <a:avLst/>
          </a:prstGeom>
          <a:solidFill>
            <a:srgbClr val="1E4D3A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508760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1892808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1645920" y="1508760"/>
            <a:ext cx="475488" cy="365760"/>
          </a:xfrm>
          <a:prstGeom prst="rect">
            <a:avLst/>
          </a:prstGeom>
          <a:solidFill>
            <a:srgbClr val="1E4D3A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5920" y="1508760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45920" y="1892808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194560" y="1508760"/>
            <a:ext cx="475488" cy="365760"/>
          </a:xfrm>
          <a:prstGeom prst="rect">
            <a:avLst/>
          </a:prstGeom>
          <a:solidFill>
            <a:srgbClr val="1E4D3A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94560" y="1508760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194560" y="1892808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2743200" y="1508760"/>
            <a:ext cx="475488" cy="365760"/>
          </a:xfrm>
          <a:prstGeom prst="rect">
            <a:avLst/>
          </a:prstGeom>
          <a:solidFill>
            <a:srgbClr val="1E4D3A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0" y="1508760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43200" y="1892808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[4]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291840" y="1508760"/>
            <a:ext cx="475488" cy="365760"/>
          </a:xfrm>
          <a:prstGeom prst="rect">
            <a:avLst/>
          </a:prstGeom>
          <a:solidFill>
            <a:srgbClr val="1A1F25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1508760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91840" y="1892808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[5]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840480" y="1508760"/>
            <a:ext cx="475488" cy="365760"/>
          </a:xfrm>
          <a:prstGeom prst="rect">
            <a:avLst/>
          </a:prstGeom>
          <a:solidFill>
            <a:srgbClr val="1A1F25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0" y="1508760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840480" y="1892808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[6]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4389120" y="1508760"/>
            <a:ext cx="475488" cy="365760"/>
          </a:xfrm>
          <a:prstGeom prst="rect">
            <a:avLst/>
          </a:prstGeom>
          <a:solidFill>
            <a:srgbClr val="1A1F25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0" y="1508760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389120" y="1892808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[7]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48640" y="2084832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C896"/>
                </a:solidFill>
              </a:rPr>
              <a:t>HEAD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11480" y="2359152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Movement: shift all right → insert new head at [0]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Grow: length++ before shift     Slide: length unchanged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669280" y="804672"/>
            <a:ext cx="3200400" cy="2194560"/>
          </a:xfrm>
          <a:prstGeom prst="rect">
            <a:avLst/>
          </a:prstGeom>
          <a:solidFill>
            <a:srgbClr val="161B22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06440" y="85039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500"/>
                </a:solidFill>
              </a:rPr>
              <a:t>② 2D char Grid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806440" y="11887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grid[HEIGHT][WIDTH+1]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grid[20][41]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806440" y="162763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806440" y="182880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$     |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806440" y="202996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Ooo   |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806440" y="223113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      |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806440" y="2432304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806440" y="263347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each game tick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O(W × H) per frame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74320" y="3127248"/>
            <a:ext cx="4114800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31821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</a:rPr>
              <a:t>③ Enum — Direction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11480" y="35295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 Direction { STOP, UP, DOWN, LEFT, RIGHT };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11480" y="38404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Snake::setDirection() to prevent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180° reversal (can't go UP while moving DOWN)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663440" y="3127248"/>
            <a:ext cx="4206240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AA80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00600" y="31821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A80FF"/>
                </a:solidFill>
              </a:rPr>
              <a:t>④ Struct — Point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800600" y="352958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Point { int x, y;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bool operator==(const Point&amp;) const; };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800600" y="391363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Overloaded == used in hitSelf() and ateFood()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for exact grid cell matches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00C896"/>
                </a:solidFill>
              </a:rPr>
              <a:t>ALGORITHMS IMPLEMENTED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5394960" cy="1481328"/>
          </a:xfrm>
          <a:prstGeom prst="rect">
            <a:avLst/>
          </a:prstGeom>
          <a:solidFill>
            <a:srgbClr val="161B22"/>
          </a:solidFill>
          <a:ln w="19050">
            <a:solidFill>
              <a:srgbClr val="00C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04672"/>
            <a:ext cx="5394960" cy="3657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896112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96"/>
                </a:solidFill>
              </a:rPr>
              <a:t>① Snake Movement — Dynamic Body Update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1261872"/>
            <a:ext cx="5175504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If grew: length++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Shift all body[] segments right: body[i] = body[i-1]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Compute newHead from direction → place at body[0]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head moves forward, tail either extends or drops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2395728"/>
            <a:ext cx="4114800" cy="1463040"/>
          </a:xfrm>
          <a:prstGeom prst="rect">
            <a:avLst/>
          </a:prstGeom>
          <a:solidFill>
            <a:srgbClr val="161B22"/>
          </a:solidFill>
          <a:ln w="19050">
            <a:solidFill>
              <a:srgbClr val="E052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2395728"/>
            <a:ext cx="4114800" cy="36576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248716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5252"/>
                </a:solidFill>
              </a:rPr>
              <a:t>② Wall Collision — O(1)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2852928"/>
            <a:ext cx="389534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head (body[0]) against 4 walls: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head.x ≤ 0  ||  head.x ≥ WIDTH-1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head.y ≤ 0  ||  head.y ≥ HEIGHT-1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time — no loop needed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2395728"/>
            <a:ext cx="4114800" cy="1463040"/>
          </a:xfrm>
          <a:prstGeom prst="rect">
            <a:avLst/>
          </a:prstGeom>
          <a:solidFill>
            <a:srgbClr val="161B22"/>
          </a:solidFill>
          <a:ln w="19050">
            <a:solidFill>
              <a:srgbClr val="E070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2395728"/>
            <a:ext cx="4114800" cy="36576"/>
          </a:xfrm>
          <a:prstGeom prst="rect">
            <a:avLst/>
          </a:prstGeom>
          <a:solidFill>
            <a:srgbClr val="E07050"/>
          </a:solidFill>
          <a:ln w="12700">
            <a:solidFill>
              <a:srgbClr val="E070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248716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7050"/>
                </a:solidFill>
              </a:rPr>
              <a:t>③ Self Collision — O(n)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73168" y="2852928"/>
            <a:ext cx="389534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scan of body[1..length-1]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each segment to head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overloaded Point::operator==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Worse as snake grows longer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0" y="804672"/>
            <a:ext cx="2926080" cy="1481328"/>
          </a:xfrm>
          <a:prstGeom prst="rect">
            <a:avLst/>
          </a:prstGeom>
          <a:solidFill>
            <a:srgbClr val="161B22"/>
          </a:solidFill>
          <a:ln w="19050">
            <a:solidFill>
              <a:srgbClr val="F0A5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0" y="804672"/>
            <a:ext cx="292608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53328" y="896112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A500"/>
                </a:solidFill>
              </a:rPr>
              <a:t>④ Food Spawn — Grid Traversal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53328" y="1261872"/>
            <a:ext cx="2706624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position → check against all body segments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if collision detected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case O(1), worst case O(n) per attempt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968496"/>
            <a:ext cx="8503920" cy="804672"/>
          </a:xfrm>
          <a:prstGeom prst="rect">
            <a:avLst/>
          </a:prstGeom>
          <a:solidFill>
            <a:srgbClr val="0F1E2E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0050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8A6FF"/>
                </a:solidFill>
              </a:rPr>
              <a:t>COMPLEXITY SUMMARY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429768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(shift)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7200" y="450799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O(n)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514600" y="429768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collision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514600" y="450799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O(1)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572000" y="429768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collision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572000" y="450799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O(n)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629400" y="429768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spawn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629400" y="450799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O(n)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00C896"/>
                </a:solidFill>
              </a:rPr>
              <a:t>GAME LOOP &amp; EXECUTION 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1645920" cy="530352"/>
          </a:xfrm>
          <a:prstGeom prst="rect">
            <a:avLst/>
          </a:prstGeom>
          <a:solidFill>
            <a:srgbClr val="00C896">
              <a:alpha val="85000"/>
            </a:srgbClr>
          </a:solidFill>
          <a:ln w="19050">
            <a:solidFill>
              <a:srgbClr val="00C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04672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</a:rPr>
              <a:t>START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280160" y="1335024"/>
            <a:ext cx="0" cy="658368"/>
          </a:xfrm>
          <a:prstGeom prst="line">
            <a:avLst/>
          </a:prstGeom>
          <a:noFill/>
          <a:ln w="19050">
            <a:solidFill>
              <a:srgbClr val="00C896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2377440" y="850392"/>
            <a:ext cx="347472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85039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main() calls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game.run()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1645920" cy="530352"/>
          </a:xfrm>
          <a:prstGeom prst="rect">
            <a:avLst/>
          </a:prstGeom>
          <a:solidFill>
            <a:srgbClr val="58A6FF">
              <a:alpha val="85000"/>
            </a:srgbClr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63040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</a:rPr>
              <a:t>SETUP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280160" y="1993392"/>
            <a:ext cx="0" cy="658368"/>
          </a:xfrm>
          <a:prstGeom prst="line">
            <a:avLst/>
          </a:prstGeom>
          <a:noFill/>
          <a:ln w="19050">
            <a:solidFill>
              <a:srgbClr val="58A6FF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2377440" y="1508760"/>
            <a:ext cx="347472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15087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snake, food,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score, flags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121408"/>
            <a:ext cx="1645920" cy="530352"/>
          </a:xfrm>
          <a:prstGeom prst="rect">
            <a:avLst/>
          </a:prstGeom>
          <a:solidFill>
            <a:srgbClr val="F0A500">
              <a:alpha val="85000"/>
            </a:srgbClr>
          </a:solidFill>
          <a:ln w="19050">
            <a:solidFill>
              <a:srgbClr val="F0A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121408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</a:rPr>
              <a:t>INPUT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280160" y="2651760"/>
            <a:ext cx="0" cy="658368"/>
          </a:xfrm>
          <a:prstGeom prst="line">
            <a:avLst/>
          </a:prstGeom>
          <a:noFill/>
          <a:ln w="19050">
            <a:solidFill>
              <a:srgbClr val="F0A50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2377440" y="2167128"/>
            <a:ext cx="347472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68880" y="216712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WASD / Q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direction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779776"/>
            <a:ext cx="1645920" cy="530352"/>
          </a:xfrm>
          <a:prstGeom prst="rect">
            <a:avLst/>
          </a:prstGeom>
          <a:solidFill>
            <a:srgbClr val="E07050">
              <a:alpha val="85000"/>
            </a:srgbClr>
          </a:solidFill>
          <a:ln w="19050">
            <a:solidFill>
              <a:srgbClr val="E070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779776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</a:rPr>
              <a:t>LOGIC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280160" y="3310128"/>
            <a:ext cx="0" cy="658368"/>
          </a:xfrm>
          <a:prstGeom prst="line">
            <a:avLst/>
          </a:prstGeom>
          <a:noFill/>
          <a:ln w="19050">
            <a:solidFill>
              <a:srgbClr val="E07050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2377440" y="2825496"/>
            <a:ext cx="347472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68880" y="282549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snake, check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&amp; collisions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438144"/>
            <a:ext cx="1645920" cy="530352"/>
          </a:xfrm>
          <a:prstGeom prst="rect">
            <a:avLst/>
          </a:prstGeom>
          <a:solidFill>
            <a:srgbClr val="AA80FF">
              <a:alpha val="85000"/>
            </a:srgbClr>
          </a:solidFill>
          <a:ln w="19050">
            <a:solidFill>
              <a:srgbClr val="AA80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438144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</a:rPr>
              <a:t>DRAW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280160" y="3968496"/>
            <a:ext cx="0" cy="658368"/>
          </a:xfrm>
          <a:prstGeom prst="line">
            <a:avLst/>
          </a:prstGeom>
          <a:noFill/>
          <a:ln w="19050">
            <a:solidFill>
              <a:srgbClr val="AA80FF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2377440" y="3483864"/>
            <a:ext cx="347472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68880" y="348386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screen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2D grid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4096512"/>
            <a:ext cx="1645920" cy="530352"/>
          </a:xfrm>
          <a:prstGeom prst="rect">
            <a:avLst/>
          </a:prstGeom>
          <a:solidFill>
            <a:srgbClr val="E05252">
              <a:alpha val="85000"/>
            </a:srgbClr>
          </a:solidFill>
          <a:ln w="19050">
            <a:solidFill>
              <a:srgbClr val="E052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096512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</a:rPr>
              <a:t>GAME OVER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377440" y="4142232"/>
            <a:ext cx="347472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68880" y="414223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score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again? Y/N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280160" y="1828800"/>
            <a:ext cx="0" cy="1865376"/>
          </a:xfrm>
          <a:prstGeom prst="line">
            <a:avLst/>
          </a:prstGeom>
          <a:noFill/>
          <a:ln w="12700">
            <a:solidFill>
              <a:srgbClr val="8B949E"/>
            </a:solidFill>
            <a:prstDash val="dot"/>
          </a:ln>
        </p:spPr>
      </p:sp>
      <p:sp>
        <p:nvSpPr>
          <p:cNvPr id="34" name="Shape 32"/>
          <p:cNvSpPr/>
          <p:nvPr/>
        </p:nvSpPr>
        <p:spPr>
          <a:xfrm>
            <a:off x="6035040" y="804672"/>
            <a:ext cx="2743200" cy="4023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35040" y="804672"/>
            <a:ext cx="2743200" cy="3657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44768" y="859536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8A6FF"/>
                </a:solidFill>
              </a:rPr>
              <a:t>Per-Tick Sequence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144768" y="1261872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(!gameOver) {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144768" y="1536192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draw();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144768" y="1810512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input();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144768" y="2084832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logic();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144768" y="2359152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SLEEP(120ms);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144768" y="2633472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144768" y="3035808"/>
            <a:ext cx="246888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44768" y="3108960"/>
            <a:ext cx="252374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Speed: 120ms per frame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~8.3 frames / second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O(n) per tick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n = snake length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0A500"/>
                </a:solidFill>
              </a:rPr>
              <a:t>HTML FILE vs C++ FILE — ARE THEY CONNECTED?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03920" cy="475488"/>
          </a:xfrm>
          <a:prstGeom prst="rect">
            <a:avLst/>
          </a:prstGeom>
          <a:solidFill>
            <a:srgbClr val="2D1A1A"/>
          </a:solidFill>
          <a:ln w="25400">
            <a:solidFill>
              <a:srgbClr val="E052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772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05252"/>
                </a:solidFill>
              </a:rPr>
              <a:t>✗  NO — The HTML and C++ files are completely independent. They do NOT communicate.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4023360" cy="283464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417320"/>
            <a:ext cx="4023360" cy="329184"/>
          </a:xfrm>
          <a:prstGeom prst="rect">
            <a:avLst/>
          </a:prstGeom>
          <a:solidFill>
            <a:srgbClr val="58A6FF">
              <a:alpha val="80000"/>
            </a:srgbClr>
          </a:solidFill>
          <a:ln w="12700">
            <a:solidFill>
              <a:srgbClr val="58A6FF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41732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nokia_snake.html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1828800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the Browser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Built with HTML5 Canvas + JavaScript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Fully self-contained — no server needed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Game logic re-implemented in JS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Cannot call or execute C++ code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Nokia phone UI with CSS styling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Touch/click controls for nav ring
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Port of the C++ game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1417320"/>
            <a:ext cx="4023360" cy="2834640"/>
          </a:xfrm>
          <a:prstGeom prst="rect">
            <a:avLst/>
          </a:prstGeom>
          <a:solidFill>
            <a:srgbClr val="161B22"/>
          </a:solidFill>
          <a:ln w="19050">
            <a:solidFill>
              <a:srgbClr val="00C8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417320"/>
            <a:ext cx="4023360" cy="329184"/>
          </a:xfrm>
          <a:prstGeom prst="rect">
            <a:avLst/>
          </a:prstGeom>
          <a:solidFill>
            <a:srgbClr val="00C896">
              <a:alpha val="80000"/>
            </a:srgbClr>
          </a:solidFill>
          <a:ln w="12700">
            <a:solidFill>
              <a:srgbClr val="00C896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141732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snake_game.cpp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64608" y="1828800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the Terminal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Compiled with  g++ snake_game.cpp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Runs as a native console application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Uses conio.h (Windows) / termios (Linux)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Renders ASCII art to the terminal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browser or web APIs involved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key input via _kbhit()/_getch()
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implementation in C++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51960" y="2514600"/>
            <a:ext cx="548640" cy="548640"/>
          </a:xfrm>
          <a:prstGeom prst="ellipse">
            <a:avLst/>
          </a:prstGeom>
          <a:solidFill>
            <a:srgbClr val="2A1A2A"/>
          </a:solidFill>
          <a:ln w="19050">
            <a:solidFill>
              <a:srgbClr val="E052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51960" y="2514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5252"/>
                </a:solidFill>
              </a:rPr>
              <a:t>VS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4370832"/>
            <a:ext cx="8503920" cy="402336"/>
          </a:xfrm>
          <a:prstGeom prst="rect">
            <a:avLst/>
          </a:prstGeom>
          <a:solidFill>
            <a:srgbClr val="1A2A1A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37083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0C896"/>
                </a:solidFill>
              </a:rPr>
              <a:t>Both play the same game concept — the HTML is a browser-based visual reimagining; the C++ file is the original academic submission.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00C896"/>
                </a:solidFill>
              </a:rPr>
              <a:t>COMPLEXITY ANALYSIS &amp; TEST RESULTS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A500"/>
                </a:solidFill>
              </a:rPr>
              <a:t>Theoretical Complexity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43000"/>
          <a:ext cx="4572000" cy="2285997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65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Snake movement (shift)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 collision check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 collision check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Food spawn (worst case)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 render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O(W×H)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O(W×H)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per tick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O(W×H)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0" y="777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8A6FF"/>
                </a:solidFill>
              </a:rPr>
              <a:t>Empirical Test Results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669280" y="117043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5  (Small)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669280" y="142646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comparisons</a:t>
            </a:r>
            <a:endParaRPr lang="en-US" sz="850" dirty="0"/>
          </a:p>
        </p:txBody>
      </p:sp>
      <p:sp>
        <p:nvSpPr>
          <p:cNvPr id="5" name="Shape 6"/>
          <p:cNvSpPr/>
          <p:nvPr/>
        </p:nvSpPr>
        <p:spPr>
          <a:xfrm>
            <a:off x="5669280" y="1645920"/>
            <a:ext cx="2926080" cy="18288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69280" y="1645920"/>
            <a:ext cx="457200" cy="18288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0" y="208483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20  (Medium)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669280" y="234086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comparisons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669280" y="2560320"/>
            <a:ext cx="2926080" cy="18288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69280" y="2560320"/>
            <a:ext cx="1371600" cy="18288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69280" y="299923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50  (Large)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669280" y="325526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comparisons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669280" y="3474720"/>
            <a:ext cx="2926080" cy="18288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669280" y="3474720"/>
            <a:ext cx="2743200" cy="18288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74320" y="3566160"/>
            <a:ext cx="850392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74320" y="3566160"/>
            <a:ext cx="64008" cy="12344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3602736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96"/>
                </a:solidFill>
              </a:rPr>
              <a:t>Conclusion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57200" y="395020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O(n) growth confirmed for self-collision detection — consistent with theoretical analysis.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snake's body array (fixed-size, array-shift) is the dominant data structure. As snake length n grows,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move() and hitSelf() scale linearly. Wall collision and food check are both constant or near-constant.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00C896"/>
                </a:solidFill>
              </a:rPr>
              <a:t>HOW TO COMPILE &amp; RUN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023360" cy="237744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04672"/>
            <a:ext cx="4023360" cy="347472"/>
          </a:xfrm>
          <a:prstGeom prst="rect">
            <a:avLst/>
          </a:prstGeom>
          <a:solidFill>
            <a:srgbClr val="58A6FF">
              <a:alpha val="80000"/>
            </a:srgbClr>
          </a:solidFill>
          <a:ln w="12700">
            <a:solidFill>
              <a:srgbClr val="58A6FF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80467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117"/>
                </a:solidFill>
              </a:rPr>
              <a:t>🪟  Windows (MinGW / g++)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123444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Open Command Prompt in project folder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4048" y="156362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Compile: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84048" y="189280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g++ -o snake snake_game.cpp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222199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Run: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84048" y="255117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snake.exe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804672"/>
            <a:ext cx="4023360" cy="2377440"/>
          </a:xfrm>
          <a:prstGeom prst="rect">
            <a:avLst/>
          </a:prstGeom>
          <a:solidFill>
            <a:srgbClr val="161B22"/>
          </a:solidFill>
          <a:ln w="19050">
            <a:solidFill>
              <a:srgbClr val="00C89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804672"/>
            <a:ext cx="4023360" cy="347472"/>
          </a:xfrm>
          <a:prstGeom prst="rect">
            <a:avLst/>
          </a:prstGeom>
          <a:solidFill>
            <a:srgbClr val="00C896">
              <a:alpha val="80000"/>
            </a:srgbClr>
          </a:solidFill>
          <a:ln w="12700">
            <a:solidFill>
              <a:srgbClr val="00C896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80467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117"/>
                </a:solidFill>
              </a:rPr>
              <a:t>🐧  Linux / macOS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64608" y="123444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Open terminal in project folder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64608" y="156362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Compile: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64608" y="189280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g++ -o snake snake_game.cpp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64608" y="222199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Run: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64608" y="255117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./snake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310128"/>
            <a:ext cx="8503920" cy="1371600"/>
          </a:xfrm>
          <a:prstGeom prst="rect">
            <a:avLst/>
          </a:prstGeom>
          <a:solidFill>
            <a:srgbClr val="0A0D1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310128"/>
            <a:ext cx="8503920" cy="256032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3364992"/>
            <a:ext cx="109728" cy="109728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" y="3364992"/>
            <a:ext cx="109728" cy="10972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3816" y="3364992"/>
            <a:ext cx="109728" cy="109728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0" y="33101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</a:rPr>
              <a:t>Terminal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65760" y="3621024"/>
            <a:ext cx="83210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+======================================+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65760" y="3813048"/>
            <a:ext cx="83210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       S N A K E  G A M E           |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65760" y="4005072"/>
            <a:ext cx="83210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  OOP + Data Structures in C++      |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65760" y="4197096"/>
            <a:ext cx="83210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+======================================+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65760" y="4389120"/>
            <a:ext cx="83210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Press ENTER to start...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0" y="27432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94560" y="27432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08960" y="27432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23360" y="27432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37760" y="27432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52160" y="27432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0" y="27432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80960" y="27432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0" y="27432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09728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80160" y="109728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94560" y="109728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08960" y="109728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23360" y="109728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37760" y="109728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52160" y="109728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66560" y="109728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0" y="109728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95360" y="109728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192024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80160" y="192024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94560" y="192024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08960" y="192024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23360" y="192024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37760" y="192024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52160" y="192024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66560" y="192024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80960" y="192024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95360" y="192024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274320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280160" y="274320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194560" y="274320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108960" y="274320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023360" y="274320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37760" y="274320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52160" y="274320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766560" y="274320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680960" y="274320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595360" y="274320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5760" y="356616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280160" y="356616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194560" y="356616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108960" y="356616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023360" y="356616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937760" y="356616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852160" y="356616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766560" y="356616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680960" y="356616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595360" y="356616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65760" y="438912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280160" y="438912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194560" y="438912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108960" y="438912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023360" y="438912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937760" y="438912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852160" y="438912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766560" y="438912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680960" y="438912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595360" y="4389120"/>
            <a:ext cx="54864" cy="54864"/>
          </a:xfrm>
          <a:prstGeom prst="ellipse">
            <a:avLst/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18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97280" y="86868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200" b="1" kern="0" spc="1000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6200" dirty="0"/>
          </a:p>
        </p:txBody>
      </p:sp>
      <p:sp>
        <p:nvSpPr>
          <p:cNvPr id="63" name="Text 61"/>
          <p:cNvSpPr/>
          <p:nvPr/>
        </p:nvSpPr>
        <p:spPr>
          <a:xfrm>
            <a:off x="1097280" y="1783080"/>
            <a:ext cx="6949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C896"/>
                </a:solidFill>
              </a:rPr>
              <a:t>Snake Game — OOP &amp; Data Structures in C++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2286000" y="2331720"/>
            <a:ext cx="4572000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05840" y="25146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EDF3"/>
                </a:solidFill>
              </a:rPr>
              <a:t>Ibrar Ahmed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1005840" y="283464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896"/>
                </a:solidFill>
              </a:rPr>
              <a:t>Implementation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3611880" y="25146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EDF3"/>
                </a:solidFill>
              </a:rPr>
              <a:t>M. Sanan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3611880" y="283464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896"/>
                </a:solidFill>
              </a:rPr>
              <a:t>Documentation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6217920" y="25146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EDF3"/>
                </a:solidFill>
              </a:rPr>
              <a:t>Hanzala Baqir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6217920" y="283464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896"/>
                </a:solidFill>
              </a:rPr>
              <a:t>Testing &amp; Analysis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2560320" y="3383280"/>
            <a:ext cx="4023360" cy="548640"/>
          </a:xfrm>
          <a:prstGeom prst="roundRect">
            <a:avLst>
              <a:gd name="adj" fmla="val 33333"/>
            </a:avLst>
          </a:prstGeom>
          <a:solidFill>
            <a:srgbClr val="00C896">
              <a:alpha val="12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560320" y="338328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896"/>
                </a:solidFill>
              </a:rPr>
              <a:t>Questions?</a:t>
            </a:r>
            <a:endParaRPr lang="en-US" sz="2000" dirty="0"/>
          </a:p>
        </p:txBody>
      </p:sp>
      <p:sp>
        <p:nvSpPr>
          <p:cNvPr id="73" name="Text 71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Compiled with  g++ -o snake snake_game.cpp  ·  Run:  snake.exe  /  ./snake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1327</Words>
  <Application>Microsoft Office PowerPoint</Application>
  <PresentationFormat>On-screen Show (16:9)</PresentationFormat>
  <Paragraphs>274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Snake Game — OOP &amp; Data Structures in C++</dc:title>
  <dc:subject>PptxGenJS Presentation</dc:subject>
  <dc:creator>PptxGenJS</dc:creator>
  <cp:lastModifiedBy>Hanzalla Baqir</cp:lastModifiedBy>
  <cp:revision>1</cp:revision>
  <dcterms:created xsi:type="dcterms:W3CDTF">2026-05-12T19:19:00Z</dcterms:created>
  <dcterms:modified xsi:type="dcterms:W3CDTF">2026-05-12T20:19:16Z</dcterms:modified>
</cp:coreProperties>
</file>